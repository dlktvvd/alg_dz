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59" r:id="rId4"/>
    <p:sldId id="261" r:id="rId5"/>
    <p:sldId id="275" r:id="rId6"/>
    <p:sldId id="289" r:id="rId7"/>
    <p:sldId id="290" r:id="rId8"/>
    <p:sldId id="277" r:id="rId9"/>
    <p:sldId id="282" r:id="rId10"/>
    <p:sldId id="283" r:id="rId11"/>
    <p:sldId id="276" r:id="rId12"/>
    <p:sldId id="285" r:id="rId13"/>
    <p:sldId id="284" r:id="rId14"/>
    <p:sldId id="278" r:id="rId15"/>
    <p:sldId id="281" r:id="rId16"/>
    <p:sldId id="286" r:id="rId17"/>
    <p:sldId id="280" r:id="rId18"/>
    <p:sldId id="288" r:id="rId19"/>
    <p:sldId id="287" r:id="rId20"/>
    <p:sldId id="291" r:id="rId21"/>
    <p:sldId id="292" r:id="rId22"/>
    <p:sldId id="293" r:id="rId23"/>
    <p:sldId id="294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D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1191400" y="880317"/>
            <a:ext cx="9809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232783" y="31229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37" name="Google Shape;37;p4"/>
          <p:cNvCxnSpPr/>
          <p:nvPr/>
        </p:nvCxnSpPr>
        <p:spPr>
          <a:xfrm>
            <a:off x="0" y="288428"/>
            <a:ext cx="5299200" cy="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8" name="Google Shape;38;p4"/>
          <p:cNvGrpSpPr/>
          <p:nvPr/>
        </p:nvGrpSpPr>
        <p:grpSpPr>
          <a:xfrm>
            <a:off x="597716" y="75159"/>
            <a:ext cx="1247866" cy="426557"/>
            <a:chOff x="-39" y="0"/>
            <a:chExt cx="2495732" cy="853115"/>
          </a:xfrm>
        </p:grpSpPr>
        <p:grpSp>
          <p:nvGrpSpPr>
            <p:cNvPr id="39" name="Google Shape;39;p4"/>
            <p:cNvGrpSpPr/>
            <p:nvPr/>
          </p:nvGrpSpPr>
          <p:grpSpPr>
            <a:xfrm rot="5400000">
              <a:off x="-39" y="0"/>
              <a:ext cx="853115" cy="853115"/>
              <a:chOff x="0" y="0"/>
              <a:chExt cx="812800" cy="812800"/>
            </a:xfrm>
          </p:grpSpPr>
          <p:sp>
            <p:nvSpPr>
              <p:cNvPr id="40" name="Google Shape;40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41" name="Google Shape;41;p4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" name="Google Shape;42;p4"/>
            <p:cNvGrpSpPr/>
            <p:nvPr/>
          </p:nvGrpSpPr>
          <p:grpSpPr>
            <a:xfrm rot="5400000">
              <a:off x="1105025" y="91998"/>
              <a:ext cx="669097" cy="669097"/>
              <a:chOff x="0" y="0"/>
              <a:chExt cx="812800" cy="812800"/>
            </a:xfrm>
          </p:grpSpPr>
          <p:sp>
            <p:nvSpPr>
              <p:cNvPr id="43" name="Google Shape;43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44" name="Google Shape;44;p4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45;p4"/>
            <p:cNvGrpSpPr/>
            <p:nvPr/>
          </p:nvGrpSpPr>
          <p:grpSpPr>
            <a:xfrm rot="5400000">
              <a:off x="2026057" y="191735"/>
              <a:ext cx="469636" cy="469636"/>
              <a:chOff x="0" y="0"/>
              <a:chExt cx="812800" cy="812800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47" name="Google Shape;47;p4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" name="Google Shape;48;p4"/>
          <p:cNvGrpSpPr/>
          <p:nvPr/>
        </p:nvGrpSpPr>
        <p:grpSpPr>
          <a:xfrm rot="5400000">
            <a:off x="5197554" y="171027"/>
            <a:ext cx="234791" cy="234791"/>
            <a:chOff x="0" y="0"/>
            <a:chExt cx="812800" cy="812800"/>
          </a:xfrm>
        </p:grpSpPr>
        <p:sp>
          <p:nvSpPr>
            <p:cNvPr id="49" name="Google Shape;49;p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0" name="Google Shape;50;p4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1;p4"/>
          <p:cNvGrpSpPr/>
          <p:nvPr/>
        </p:nvGrpSpPr>
        <p:grpSpPr>
          <a:xfrm>
            <a:off x="10412204" y="1104"/>
            <a:ext cx="1425013" cy="316950"/>
            <a:chOff x="30956" y="22078"/>
            <a:chExt cx="2850026" cy="633900"/>
          </a:xfrm>
        </p:grpSpPr>
        <p:cxnSp>
          <p:nvCxnSpPr>
            <p:cNvPr id="52" name="Google Shape;52;p4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53;p4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" name="Google Shape;54;p4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" name="Google Shape;55;p4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" name="Google Shape;56;p4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" name="Google Shape;57;p4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Google Shape;58;p4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9" name="Google Shape;59;p4"/>
          <p:cNvGrpSpPr/>
          <p:nvPr/>
        </p:nvGrpSpPr>
        <p:grpSpPr>
          <a:xfrm rot="5400000">
            <a:off x="-542925" y="4950809"/>
            <a:ext cx="1425013" cy="316950"/>
            <a:chOff x="30956" y="22078"/>
            <a:chExt cx="2850026" cy="633900"/>
          </a:xfrm>
        </p:grpSpPr>
        <p:cxnSp>
          <p:nvCxnSpPr>
            <p:cNvPr id="60" name="Google Shape;60;p4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1" name="Google Shape;61;p4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" name="Google Shape;62;p4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" name="Google Shape;63;p4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64;p4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5" name="Google Shape;65;p4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" name="Google Shape;66;p4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499031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>
            <a:spLocks noGrp="1"/>
          </p:cNvSpPr>
          <p:nvPr>
            <p:ph type="title"/>
          </p:nvPr>
        </p:nvSpPr>
        <p:spPr>
          <a:xfrm>
            <a:off x="1191400" y="880317"/>
            <a:ext cx="9809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5" name="Google Shape;125;p7"/>
          <p:cNvSpPr txBox="1">
            <a:spLocks noGrp="1"/>
          </p:cNvSpPr>
          <p:nvPr>
            <p:ph type="body" idx="1"/>
          </p:nvPr>
        </p:nvSpPr>
        <p:spPr>
          <a:xfrm>
            <a:off x="1824468" y="3219717"/>
            <a:ext cx="4101200" cy="2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609630" lvl="1" indent="-254013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914446" lvl="2" indent="-254013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219261" lvl="3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1524076" lvl="4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1828891" lvl="5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2133707" lvl="6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2438522" lvl="7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2743337" lvl="8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6" name="Google Shape;126;p7"/>
          <p:cNvSpPr txBox="1">
            <a:spLocks noGrp="1"/>
          </p:cNvSpPr>
          <p:nvPr>
            <p:ph type="body" idx="2"/>
          </p:nvPr>
        </p:nvSpPr>
        <p:spPr>
          <a:xfrm>
            <a:off x="6075795" y="3219717"/>
            <a:ext cx="4103200" cy="2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609630" lvl="1" indent="-254013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914446" lvl="2" indent="-254013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219261" lvl="3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1524076" lvl="4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1828891" lvl="5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2133707" lvl="6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2438522" lvl="7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2743337" lvl="8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27" name="Google Shape;12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77683" y="5594700"/>
            <a:ext cx="1455200" cy="849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367" y="297607"/>
            <a:ext cx="258433" cy="12881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7"/>
          <p:cNvGrpSpPr/>
          <p:nvPr/>
        </p:nvGrpSpPr>
        <p:grpSpPr>
          <a:xfrm>
            <a:off x="9977692" y="136528"/>
            <a:ext cx="1425013" cy="316950"/>
            <a:chOff x="30956" y="22078"/>
            <a:chExt cx="2850026" cy="633900"/>
          </a:xfrm>
        </p:grpSpPr>
        <p:cxnSp>
          <p:nvCxnSpPr>
            <p:cNvPr id="130" name="Google Shape;130;p7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1" name="Google Shape;131;p7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2" name="Google Shape;132;p7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3" name="Google Shape;133;p7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4" name="Google Shape;134;p7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5" name="Google Shape;135;p7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6" name="Google Shape;136;p7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37" name="Google Shape;137;p7"/>
          <p:cNvGrpSpPr/>
          <p:nvPr/>
        </p:nvGrpSpPr>
        <p:grpSpPr>
          <a:xfrm>
            <a:off x="11389185" y="136528"/>
            <a:ext cx="1425013" cy="316950"/>
            <a:chOff x="30956" y="22078"/>
            <a:chExt cx="2850026" cy="633900"/>
          </a:xfrm>
        </p:grpSpPr>
        <p:cxnSp>
          <p:nvCxnSpPr>
            <p:cNvPr id="138" name="Google Shape;138;p7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9" name="Google Shape;139;p7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0" name="Google Shape;140;p7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1" name="Google Shape;141;p7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2" name="Google Shape;142;p7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3" name="Google Shape;143;p7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4" name="Google Shape;144;p7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125444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1191400" y="880317"/>
            <a:ext cx="9809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cxnSp>
        <p:nvCxnSpPr>
          <p:cNvPr id="147" name="Google Shape;147;p8"/>
          <p:cNvCxnSpPr/>
          <p:nvPr/>
        </p:nvCxnSpPr>
        <p:spPr>
          <a:xfrm rot="10800000">
            <a:off x="11506200" y="485000"/>
            <a:ext cx="0" cy="637300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8" name="Google Shape;148;p8"/>
          <p:cNvGrpSpPr/>
          <p:nvPr/>
        </p:nvGrpSpPr>
        <p:grpSpPr>
          <a:xfrm>
            <a:off x="11292931" y="6172200"/>
            <a:ext cx="426557" cy="426557"/>
            <a:chOff x="0" y="0"/>
            <a:chExt cx="812800" cy="812800"/>
          </a:xfrm>
        </p:grpSpPr>
        <p:sp>
          <p:nvSpPr>
            <p:cNvPr id="149" name="Google Shape;149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150" name="Google Shape;150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8"/>
          <p:cNvGrpSpPr/>
          <p:nvPr/>
        </p:nvGrpSpPr>
        <p:grpSpPr>
          <a:xfrm>
            <a:off x="11338930" y="5711678"/>
            <a:ext cx="334549" cy="334549"/>
            <a:chOff x="0" y="0"/>
            <a:chExt cx="812800" cy="812800"/>
          </a:xfrm>
        </p:grpSpPr>
        <p:sp>
          <p:nvSpPr>
            <p:cNvPr id="152" name="Google Shape;152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153" name="Google Shape;153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8"/>
          <p:cNvGrpSpPr/>
          <p:nvPr/>
        </p:nvGrpSpPr>
        <p:grpSpPr>
          <a:xfrm>
            <a:off x="11388799" y="5350892"/>
            <a:ext cx="234791" cy="234791"/>
            <a:chOff x="0" y="0"/>
            <a:chExt cx="812800" cy="812800"/>
          </a:xfrm>
        </p:grpSpPr>
        <p:sp>
          <p:nvSpPr>
            <p:cNvPr id="155" name="Google Shape;155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156" name="Google Shape;156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8"/>
          <p:cNvGrpSpPr/>
          <p:nvPr/>
        </p:nvGrpSpPr>
        <p:grpSpPr>
          <a:xfrm>
            <a:off x="11388799" y="367590"/>
            <a:ext cx="234791" cy="234791"/>
            <a:chOff x="0" y="0"/>
            <a:chExt cx="812800" cy="812800"/>
          </a:xfrm>
        </p:grpSpPr>
        <p:sp>
          <p:nvSpPr>
            <p:cNvPr id="158" name="Google Shape;158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159" name="Google Shape;159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8"/>
          <p:cNvGrpSpPr/>
          <p:nvPr/>
        </p:nvGrpSpPr>
        <p:grpSpPr>
          <a:xfrm>
            <a:off x="701278" y="6496406"/>
            <a:ext cx="1425013" cy="316950"/>
            <a:chOff x="30956" y="22078"/>
            <a:chExt cx="2850026" cy="633900"/>
          </a:xfrm>
        </p:grpSpPr>
        <p:cxnSp>
          <p:nvCxnSpPr>
            <p:cNvPr id="161" name="Google Shape;161;p8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2" name="Google Shape;162;p8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3" name="Google Shape;163;p8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4" name="Google Shape;164;p8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5" name="Google Shape;165;p8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6" name="Google Shape;166;p8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7" name="Google Shape;167;p8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68" name="Google Shape;16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8983" y="3048314"/>
            <a:ext cx="510200" cy="4940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1291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body" idx="1"/>
          </p:nvPr>
        </p:nvSpPr>
        <p:spPr>
          <a:xfrm>
            <a:off x="6198817" y="3175083"/>
            <a:ext cx="3658000" cy="29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609630" lvl="1" indent="-254013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914446" lvl="2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219261" lvl="3" indent="-254013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1524076" lvl="4" indent="-254013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1828891" lvl="5" indent="-254013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2133707" lvl="6" indent="-254013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2438522" lvl="7" indent="-254013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2743337" lvl="8" indent="-254013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1" name="Google Shape;171;p9"/>
          <p:cNvSpPr txBox="1">
            <a:spLocks noGrp="1"/>
          </p:cNvSpPr>
          <p:nvPr>
            <p:ph type="body" idx="2"/>
          </p:nvPr>
        </p:nvSpPr>
        <p:spPr>
          <a:xfrm>
            <a:off x="2335183" y="3247067"/>
            <a:ext cx="3733200" cy="3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609630" lvl="1" indent="-152408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914446" lvl="2" indent="-152408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219261" lvl="3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1524076" lvl="4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1828891" lvl="5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2133707" lvl="6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2438522" lvl="7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2743337" lvl="8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2" name="Google Shape;172;p9"/>
          <p:cNvSpPr txBox="1">
            <a:spLocks noGrp="1"/>
          </p:cNvSpPr>
          <p:nvPr>
            <p:ph type="title"/>
          </p:nvPr>
        </p:nvSpPr>
        <p:spPr>
          <a:xfrm>
            <a:off x="1191400" y="880317"/>
            <a:ext cx="9809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sz="600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173" name="Google Shape;17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62598" y="5184515"/>
            <a:ext cx="566650" cy="550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684" y="2090650"/>
            <a:ext cx="1034650" cy="12780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9"/>
          <p:cNvGrpSpPr/>
          <p:nvPr/>
        </p:nvGrpSpPr>
        <p:grpSpPr>
          <a:xfrm>
            <a:off x="1843361" y="6529945"/>
            <a:ext cx="1425013" cy="316950"/>
            <a:chOff x="30956" y="22078"/>
            <a:chExt cx="2850026" cy="633900"/>
          </a:xfrm>
        </p:grpSpPr>
        <p:cxnSp>
          <p:nvCxnSpPr>
            <p:cNvPr id="176" name="Google Shape;176;p9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7" name="Google Shape;177;p9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8" name="Google Shape;178;p9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9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9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9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9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83" name="Google Shape;183;p9"/>
          <p:cNvGrpSpPr/>
          <p:nvPr/>
        </p:nvGrpSpPr>
        <p:grpSpPr>
          <a:xfrm>
            <a:off x="3254854" y="6529945"/>
            <a:ext cx="1425013" cy="316950"/>
            <a:chOff x="30956" y="22078"/>
            <a:chExt cx="2850026" cy="633900"/>
          </a:xfrm>
        </p:grpSpPr>
        <p:cxnSp>
          <p:nvCxnSpPr>
            <p:cNvPr id="184" name="Google Shape;184;p9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5" name="Google Shape;185;p9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6" name="Google Shape;186;p9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7" name="Google Shape;187;p9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8" name="Google Shape;188;p9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9" name="Google Shape;189;p9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0" name="Google Shape;190;p9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3335354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>
            <a:spLocks noGrp="1"/>
          </p:cNvSpPr>
          <p:nvPr>
            <p:ph type="pic" idx="2"/>
          </p:nvPr>
        </p:nvSpPr>
        <p:spPr>
          <a:xfrm>
            <a:off x="7355115" y="3337000"/>
            <a:ext cx="3119000" cy="23394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10"/>
          <p:cNvSpPr txBox="1">
            <a:spLocks noGrp="1"/>
          </p:cNvSpPr>
          <p:nvPr>
            <p:ph type="body" idx="1"/>
          </p:nvPr>
        </p:nvSpPr>
        <p:spPr>
          <a:xfrm>
            <a:off x="1624292" y="3096725"/>
            <a:ext cx="3657600" cy="5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609630" lvl="1" indent="-152408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914446" lvl="2" indent="-152408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219261" lvl="3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1524076" lvl="4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1828891" lvl="5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2133707" lvl="6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2438522" lvl="7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2743337" lvl="8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4" name="Google Shape;194;p10"/>
          <p:cNvSpPr txBox="1">
            <a:spLocks noGrp="1"/>
          </p:cNvSpPr>
          <p:nvPr>
            <p:ph type="title"/>
          </p:nvPr>
        </p:nvSpPr>
        <p:spPr>
          <a:xfrm>
            <a:off x="1191400" y="880317"/>
            <a:ext cx="9809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sz="600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195" name="Google Shape;195;p10"/>
          <p:cNvGrpSpPr/>
          <p:nvPr/>
        </p:nvGrpSpPr>
        <p:grpSpPr>
          <a:xfrm>
            <a:off x="6177323" y="5947294"/>
            <a:ext cx="1425013" cy="316950"/>
            <a:chOff x="30956" y="22078"/>
            <a:chExt cx="2850026" cy="633900"/>
          </a:xfrm>
        </p:grpSpPr>
        <p:cxnSp>
          <p:nvCxnSpPr>
            <p:cNvPr id="196" name="Google Shape;196;p10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7" name="Google Shape;197;p10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8" name="Google Shape;198;p10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9" name="Google Shape;199;p10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0" name="Google Shape;200;p10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1" name="Google Shape;201;p10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2" name="Google Shape;202;p10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203" name="Google Shape;20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921001" y="1511734"/>
            <a:ext cx="548050" cy="532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017" y="5327118"/>
            <a:ext cx="234783" cy="11778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3864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573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91400" y="880317"/>
            <a:ext cx="9809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sz="900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232783" y="31229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–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–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»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1473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6" r:id="rId2"/>
    <p:sldLayoutId id="2147483667" r:id="rId3"/>
    <p:sldLayoutId id="2147483668" r:id="rId4"/>
    <p:sldLayoutId id="2147483669" r:id="rId5"/>
    <p:sldLayoutId id="2147483670" r:id="rId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0C379-4795-4D7E-8C12-F76EE7805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400" y="1549621"/>
            <a:ext cx="9809200" cy="762000"/>
          </a:xfrm>
        </p:spPr>
        <p:txBody>
          <a:bodyPr>
            <a:noAutofit/>
          </a:bodyPr>
          <a:lstStyle/>
          <a:p>
            <a:r>
              <a:rPr lang="ru-RU" sz="7200" b="1" dirty="0">
                <a:latin typeface="Montserrat" panose="00000500000000000000" pitchFamily="2" charset="-52"/>
                <a:cs typeface="Times New Roman" panose="02020603050405020304" pitchFamily="18" charset="0"/>
              </a:rPr>
              <a:t>Задача о размене монет</a:t>
            </a:r>
            <a:endParaRPr lang="ru-RU" sz="72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E0CC023-9267-4B53-9DEE-583AD58FA976}"/>
              </a:ext>
            </a:extLst>
          </p:cNvPr>
          <p:cNvSpPr txBox="1">
            <a:spLocks/>
          </p:cNvSpPr>
          <p:nvPr/>
        </p:nvSpPr>
        <p:spPr>
          <a:xfrm>
            <a:off x="5236600" y="3344158"/>
            <a:ext cx="5764000" cy="2879117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-RU" sz="2400" b="1" dirty="0">
                <a:solidFill>
                  <a:schemeClr val="bg1"/>
                </a:solidFill>
                <a:latin typeface="Montserrat" panose="00000500000000000000" pitchFamily="2" charset="-52"/>
              </a:rPr>
              <a:t>Группа АС-24-04</a:t>
            </a:r>
          </a:p>
          <a:p>
            <a:pPr algn="r"/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Пуганова Алёна</a:t>
            </a:r>
          </a:p>
          <a:p>
            <a:pPr algn="r"/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Богунова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 Александра</a:t>
            </a:r>
          </a:p>
          <a:p>
            <a:pPr algn="r"/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Ивакин Максим</a:t>
            </a:r>
          </a:p>
          <a:p>
            <a:pPr algn="r"/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Лащенова Полина</a:t>
            </a:r>
          </a:p>
          <a:p>
            <a:pPr algn="r"/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Аглиуллин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 </a:t>
            </a:r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Ильсаф</a:t>
            </a:r>
            <a:endParaRPr lang="ru-RU" sz="2400" dirty="0">
              <a:solidFill>
                <a:schemeClr val="bg1"/>
              </a:solidFill>
              <a:latin typeface="Montserrat" panose="00000500000000000000" pitchFamily="2" charset="-52"/>
            </a:endParaRPr>
          </a:p>
          <a:p>
            <a:pPr algn="r"/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Дуненко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 Вероника</a:t>
            </a:r>
          </a:p>
          <a:p>
            <a:pPr algn="r"/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212434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85D3D-FD1E-4176-8570-130BDB763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400" y="1163122"/>
            <a:ext cx="9809200" cy="762000"/>
          </a:xfrm>
        </p:spPr>
        <p:txBody>
          <a:bodyPr>
            <a:normAutofit fontScale="90000"/>
          </a:bodyPr>
          <a:lstStyle/>
          <a:p>
            <a:r>
              <a:rPr lang="ru-RU" sz="7300" dirty="0"/>
              <a:t>Постановка задачи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65E57C-6C5B-44A0-9C9D-C8F6A3B26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8580" y="1672651"/>
            <a:ext cx="10473179" cy="4831844"/>
          </a:xfrm>
        </p:spPr>
        <p:txBody>
          <a:bodyPr>
            <a:normAutofit lnSpcReduction="10000"/>
          </a:bodyPr>
          <a:lstStyle/>
          <a:p>
            <a:pPr marL="76204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bg1"/>
                </a:solidFill>
                <a:effectLst/>
              </a:rPr>
              <a:t>Цель работы:</a:t>
            </a:r>
            <a:br>
              <a:rPr lang="ru-RU" dirty="0">
                <a:solidFill>
                  <a:schemeClr val="bg1"/>
                </a:solidFill>
                <a:effectLst/>
              </a:rPr>
            </a:br>
            <a:r>
              <a:rPr lang="ru-RU" dirty="0">
                <a:solidFill>
                  <a:schemeClr val="bg1"/>
                </a:solidFill>
                <a:effectLst/>
              </a:rPr>
              <a:t>Изучить алгоритмы решения задачи, провести сравнительный анализ алгоритмов и определить условия их эффективного применения, скорость выполнения и корректность результатов.</a:t>
            </a:r>
          </a:p>
          <a:p>
            <a:pPr marL="76204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bg1"/>
                </a:solidFill>
                <a:effectLst/>
              </a:rPr>
              <a:t>Экспериментальная часть:</a:t>
            </a:r>
            <a:br>
              <a:rPr lang="ru-RU" dirty="0">
                <a:solidFill>
                  <a:schemeClr val="bg1"/>
                </a:solidFill>
                <a:effectLst/>
              </a:rPr>
            </a:br>
            <a:r>
              <a:rPr lang="ru-RU" dirty="0">
                <a:solidFill>
                  <a:schemeClr val="bg1"/>
                </a:solidFill>
                <a:effectLst/>
              </a:rPr>
              <a:t>Выполнить тестирование алгоритмов на различных наборах данных:</a:t>
            </a:r>
          </a:p>
          <a:p>
            <a:pPr>
              <a:lnSpc>
                <a:spcPct val="11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1"/>
                </a:solidFill>
                <a:effectLst/>
              </a:rPr>
              <a:t>Канонические системы номиналов </a:t>
            </a:r>
          </a:p>
          <a:p>
            <a:pPr>
              <a:lnSpc>
                <a:spcPct val="11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1"/>
                </a:solidFill>
                <a:effectLst/>
              </a:rPr>
              <a:t>Неклассические системы номиналов </a:t>
            </a:r>
          </a:p>
          <a:p>
            <a:pPr>
              <a:lnSpc>
                <a:spcPct val="11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1"/>
                </a:solidFill>
                <a:effectLst/>
              </a:rPr>
              <a:t>Случаи невозможного размена</a:t>
            </a:r>
          </a:p>
          <a:p>
            <a:pPr>
              <a:lnSpc>
                <a:spcPct val="11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1"/>
                </a:solidFill>
                <a:effectLst/>
              </a:rPr>
              <a:t>Различные значения сумм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03421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85D3D-FD1E-4176-8570-130BDB763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98" y="1945546"/>
            <a:ext cx="9809200" cy="762000"/>
          </a:xfrm>
        </p:spPr>
        <p:txBody>
          <a:bodyPr>
            <a:normAutofit fontScale="90000"/>
          </a:bodyPr>
          <a:lstStyle/>
          <a:p>
            <a:r>
              <a:rPr lang="ru-RU" sz="7300" dirty="0"/>
              <a:t>Актуальность</a:t>
            </a:r>
            <a:br>
              <a:rPr lang="ru-RU" sz="1400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65E57C-6C5B-44A0-9C9D-C8F6A3B26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9408" y="2172272"/>
            <a:ext cx="10473179" cy="4501906"/>
          </a:xfrm>
        </p:spPr>
        <p:txBody>
          <a:bodyPr>
            <a:normAutofit/>
          </a:bodyPr>
          <a:lstStyle/>
          <a:p>
            <a:pPr marL="76204" indent="457200">
              <a:buNone/>
            </a:pPr>
            <a:r>
              <a:rPr lang="ru-RU" dirty="0"/>
              <a:t>Задача о размене монет является фундаментальной задачей в области алгоритмов, изучение которой позволяет на практике освоить ключевые алгоритмические подходы. Сравнение пяти методов помогает понять их эффективность в различных условиях. </a:t>
            </a:r>
          </a:p>
          <a:p>
            <a:pPr marL="76204" indent="457200">
              <a:buNone/>
            </a:pPr>
            <a:r>
              <a:rPr lang="ru-RU" dirty="0"/>
              <a:t>Практическая значимость задачи подкрепляется её применением в реальных системах, таких как банкоматы, торговые автоматы и финансовые технологии, где требуется быстро находить минимальное количество купюр или монет для выдачи суммы.</a:t>
            </a:r>
          </a:p>
        </p:txBody>
      </p:sp>
    </p:spTree>
    <p:extLst>
      <p:ext uri="{BB962C8B-B14F-4D97-AF65-F5344CB8AC3E}">
        <p14:creationId xmlns:p14="http://schemas.microsoft.com/office/powerpoint/2010/main" val="3636916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5C0FDA-0D2E-49C1-89F3-25A997BA1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400" y="861464"/>
            <a:ext cx="9809200" cy="762000"/>
          </a:xfrm>
        </p:spPr>
        <p:txBody>
          <a:bodyPr>
            <a:noAutofit/>
          </a:bodyPr>
          <a:lstStyle/>
          <a:p>
            <a:r>
              <a:rPr lang="ru-RU" sz="6600" dirty="0">
                <a:solidFill>
                  <a:srgbClr val="FFBD4C"/>
                </a:solidFill>
              </a:rPr>
              <a:t>Формулировка задачи и алгоритмы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481710-638D-4DD0-ABDE-F4E6230D8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608" y="2535810"/>
            <a:ext cx="5360060" cy="3893270"/>
          </a:xfrm>
        </p:spPr>
        <p:txBody>
          <a:bodyPr>
            <a:normAutofit/>
          </a:bodyPr>
          <a:lstStyle/>
          <a:p>
            <a:pPr marL="50802" indent="0">
              <a:lnSpc>
                <a:spcPct val="110000"/>
              </a:lnSpc>
              <a:buNone/>
            </a:pPr>
            <a:r>
              <a:rPr lang="ru-RU" sz="2400" dirty="0"/>
              <a:t>Имеется неограниченное количество монет заданных номиналов. Требуется разменять некоторую сумму денег </a:t>
            </a:r>
            <a:r>
              <a:rPr lang="ru-RU" sz="2400" b="1" dirty="0"/>
              <a:t>S</a:t>
            </a:r>
            <a:r>
              <a:rPr lang="ru-RU" sz="2400" dirty="0"/>
              <a:t> на монеты так, чтобы </a:t>
            </a:r>
            <a:r>
              <a:rPr lang="ru-RU" sz="2400" b="1" dirty="0"/>
              <a:t>использовать минимальное количество монет</a:t>
            </a:r>
            <a:r>
              <a:rPr lang="ru-RU" sz="2400" dirty="0"/>
              <a:t>. Если размен невозможен, задача не имеет решения.</a:t>
            </a:r>
          </a:p>
          <a:p>
            <a:pPr marL="50802" indent="0">
              <a:buNone/>
            </a:pP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59DB53-3DB3-419D-8EB5-50DAC83BF03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66334" y="2535810"/>
            <a:ext cx="4793310" cy="2498103"/>
          </a:xfrm>
        </p:spPr>
        <p:txBody>
          <a:bodyPr>
            <a:normAutofit/>
          </a:bodyPr>
          <a:lstStyle/>
          <a:p>
            <a:pPr marL="508002" indent="-457200">
              <a:buClr>
                <a:schemeClr val="bg1"/>
              </a:buClr>
              <a:buFont typeface="+mj-lt"/>
              <a:buAutoNum type="arabicPeriod"/>
            </a:pPr>
            <a:r>
              <a:rPr lang="ru-RU" dirty="0"/>
              <a:t>Жадный алгоритм </a:t>
            </a:r>
          </a:p>
          <a:p>
            <a:pPr marL="508002" indent="-457200">
              <a:buClr>
                <a:schemeClr val="bg1"/>
              </a:buClr>
              <a:buFont typeface="+mj-lt"/>
              <a:buAutoNum type="arabicPeriod"/>
            </a:pPr>
            <a:r>
              <a:rPr lang="ru-RU" dirty="0"/>
              <a:t>Полный перебор </a:t>
            </a:r>
          </a:p>
          <a:p>
            <a:pPr marL="508002" indent="-457200">
              <a:buClr>
                <a:schemeClr val="bg1"/>
              </a:buClr>
              <a:buFont typeface="+mj-lt"/>
              <a:buAutoNum type="arabicPeriod"/>
            </a:pPr>
            <a:r>
              <a:rPr lang="ru-RU" dirty="0"/>
              <a:t>ДП - минимум монет</a:t>
            </a:r>
          </a:p>
          <a:p>
            <a:pPr marL="508002" indent="-457200">
              <a:buClr>
                <a:schemeClr val="bg1"/>
              </a:buClr>
              <a:buFont typeface="+mj-lt"/>
              <a:buAutoNum type="arabicPeriod"/>
            </a:pPr>
            <a:r>
              <a:rPr lang="ru-RU" dirty="0"/>
              <a:t>Рекурсия с </a:t>
            </a:r>
            <a:r>
              <a:rPr lang="ru-RU" dirty="0" err="1"/>
              <a:t>мемоизацией</a:t>
            </a:r>
            <a:endParaRPr lang="ru-RU" dirty="0"/>
          </a:p>
          <a:p>
            <a:pPr marL="508002" indent="-457200">
              <a:buClr>
                <a:schemeClr val="bg1"/>
              </a:buClr>
              <a:buFont typeface="+mj-lt"/>
              <a:buAutoNum type="arabicPeriod"/>
            </a:pPr>
            <a:r>
              <a:rPr lang="ru-RU" dirty="0"/>
              <a:t>Поиск в ширину </a:t>
            </a:r>
          </a:p>
        </p:txBody>
      </p:sp>
    </p:spTree>
    <p:extLst>
      <p:ext uri="{BB962C8B-B14F-4D97-AF65-F5344CB8AC3E}">
        <p14:creationId xmlns:p14="http://schemas.microsoft.com/office/powerpoint/2010/main" val="4128148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437254" y="333564"/>
            <a:ext cx="7547249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800" dirty="0">
                <a:solidFill>
                  <a:srgbClr val="FFBD4C"/>
                </a:solidFill>
                <a:latin typeface="Montserrat" panose="00000500000000000000" pitchFamily="2" charset="-52"/>
              </a:rPr>
              <a:t>Жадный алгоритм </a:t>
            </a:r>
          </a:p>
          <a:p>
            <a:br>
              <a:rPr lang="ru-RU" sz="4800" b="1" dirty="0"/>
            </a:br>
            <a:endParaRPr lang="ru-RU" sz="4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DE487D-3FBE-4789-BE74-9C69AD3BCCFA}"/>
              </a:ext>
            </a:extLst>
          </p:cNvPr>
          <p:cNvSpPr txBox="1"/>
          <p:nvPr/>
        </p:nvSpPr>
        <p:spPr>
          <a:xfrm>
            <a:off x="437254" y="1916074"/>
            <a:ext cx="11036431" cy="389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ru-RU" sz="2800" dirty="0">
                <a:solidFill>
                  <a:schemeClr val="bg1"/>
                </a:solidFill>
                <a:latin typeface="Montserrat" panose="00000500000000000000" pitchFamily="2" charset="-52"/>
                <a:cs typeface="Times New Roman" panose="02020603050405020304" pitchFamily="18" charset="0"/>
              </a:rPr>
              <a:t>Основная идея жадного алгоритма: для размена заданной суммы S нужно всегда брать самую крупную монету, номинал которой не превышает оставшуюся сумму, и повторять этот процесс, пока вся сумма не будет </a:t>
            </a:r>
            <a:r>
              <a:rPr lang="ru-RU" sz="2800" dirty="0" err="1">
                <a:solidFill>
                  <a:schemeClr val="bg1"/>
                </a:solidFill>
                <a:latin typeface="Montserrat" panose="00000500000000000000" pitchFamily="2" charset="-52"/>
                <a:cs typeface="Times New Roman" panose="02020603050405020304" pitchFamily="18" charset="0"/>
              </a:rPr>
              <a:t>разменена</a:t>
            </a:r>
            <a:r>
              <a:rPr lang="ru-RU" sz="2800" dirty="0">
                <a:solidFill>
                  <a:schemeClr val="bg1"/>
                </a:solidFill>
                <a:latin typeface="Montserrat" panose="00000500000000000000" pitchFamily="2" charset="-52"/>
                <a:cs typeface="Times New Roman" panose="02020603050405020304" pitchFamily="18" charset="0"/>
              </a:rPr>
              <a:t> или пока не станет очевидно, что размен невозможен. </a:t>
            </a:r>
          </a:p>
        </p:txBody>
      </p:sp>
    </p:spTree>
    <p:extLst>
      <p:ext uri="{BB962C8B-B14F-4D97-AF65-F5344CB8AC3E}">
        <p14:creationId xmlns:p14="http://schemas.microsoft.com/office/powerpoint/2010/main" val="4139343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437254" y="333564"/>
            <a:ext cx="7547249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800" dirty="0">
                <a:solidFill>
                  <a:srgbClr val="FFBD4C"/>
                </a:solidFill>
                <a:latin typeface="Montserrat" panose="00000500000000000000" pitchFamily="2" charset="-52"/>
              </a:rPr>
              <a:t>Жадный алгоритм </a:t>
            </a:r>
          </a:p>
          <a:p>
            <a:br>
              <a:rPr lang="ru-RU" sz="4800" b="1" dirty="0"/>
            </a:br>
            <a:endParaRPr lang="ru-RU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BB7BA2-2ACD-4CBB-AC7B-A842D47158A8}"/>
              </a:ext>
            </a:extLst>
          </p:cNvPr>
          <p:cNvSpPr txBox="1"/>
          <p:nvPr/>
        </p:nvSpPr>
        <p:spPr>
          <a:xfrm>
            <a:off x="437254" y="1856767"/>
            <a:ext cx="492659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  <a:cs typeface="Times New Roman" panose="02020603050405020304" pitchFamily="18" charset="0"/>
              </a:rPr>
              <a:t>Жадный алгоритм работает корректно (дает оптимальное решение) с каноническими системами монет. Формально, система номиналов считается канонической, если для любой суммы жадный алгоритм находит размен с минимальным количеством монет.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0AB2F33-A2E1-4CBC-882F-D6F348A48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951" y="1323850"/>
            <a:ext cx="6468378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013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437254" y="333564"/>
            <a:ext cx="7547249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800" dirty="0">
                <a:solidFill>
                  <a:srgbClr val="FFBD4C"/>
                </a:solidFill>
                <a:latin typeface="Montserrat" panose="00000500000000000000" pitchFamily="2" charset="-52"/>
              </a:rPr>
              <a:t>Жадный алгоритм </a:t>
            </a:r>
          </a:p>
          <a:p>
            <a:br>
              <a:rPr lang="ru-RU" sz="4800" b="1" dirty="0"/>
            </a:br>
            <a:endParaRPr lang="ru-RU" sz="4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263DFD-A924-4EFC-8A33-D070B3E70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107" y="3429000"/>
            <a:ext cx="7097785" cy="23884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B7C76A-FFEA-4355-A9DC-02C42749FE6E}"/>
              </a:ext>
            </a:extLst>
          </p:cNvPr>
          <p:cNvSpPr txBox="1"/>
          <p:nvPr/>
        </p:nvSpPr>
        <p:spPr>
          <a:xfrm>
            <a:off x="3048238" y="1968586"/>
            <a:ext cx="60955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Montserrat" panose="00000500000000000000" pitchFamily="2" charset="-52"/>
              </a:rPr>
              <a:t>Пример работы</a:t>
            </a:r>
          </a:p>
        </p:txBody>
      </p:sp>
    </p:spTree>
    <p:extLst>
      <p:ext uri="{BB962C8B-B14F-4D97-AF65-F5344CB8AC3E}">
        <p14:creationId xmlns:p14="http://schemas.microsoft.com/office/powerpoint/2010/main" val="908655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437254" y="446686"/>
            <a:ext cx="7547249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2">
              <a:buClr>
                <a:schemeClr val="bg1"/>
              </a:buClr>
            </a:pPr>
            <a:r>
              <a:rPr lang="ru-RU" sz="4800" dirty="0">
                <a:solidFill>
                  <a:srgbClr val="FFBD4C"/>
                </a:solidFill>
                <a:latin typeface="Montserrat" panose="00000500000000000000" pitchFamily="2" charset="-52"/>
              </a:rPr>
              <a:t>Полный перебор </a:t>
            </a:r>
          </a:p>
          <a:p>
            <a:br>
              <a:rPr lang="ru-RU" sz="4800" b="1" dirty="0"/>
            </a:br>
            <a:endParaRPr lang="ru-RU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45F9DF-6BE2-4908-B0AA-DB42973C8FB7}"/>
              </a:ext>
            </a:extLst>
          </p:cNvPr>
          <p:cNvSpPr txBox="1"/>
          <p:nvPr/>
        </p:nvSpPr>
        <p:spPr>
          <a:xfrm>
            <a:off x="437254" y="1885527"/>
            <a:ext cx="10478985" cy="3251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ru-RU" sz="2800" dirty="0">
                <a:solidFill>
                  <a:schemeClr val="bg1"/>
                </a:solidFill>
                <a:latin typeface="Montserrat" panose="00000500000000000000" pitchFamily="2" charset="-52"/>
              </a:rPr>
              <a:t>Метод полного перебора — это прямой и простейший подход к решению задач, который заключается в систематическом переборе всех возможных вариантов решения с последующим выбором оптимального.  </a:t>
            </a:r>
          </a:p>
        </p:txBody>
      </p:sp>
    </p:spTree>
    <p:extLst>
      <p:ext uri="{BB962C8B-B14F-4D97-AF65-F5344CB8AC3E}">
        <p14:creationId xmlns:p14="http://schemas.microsoft.com/office/powerpoint/2010/main" val="2313703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295852" y="202969"/>
            <a:ext cx="6001253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2">
              <a:buClr>
                <a:schemeClr val="bg1"/>
              </a:buClr>
            </a:pPr>
            <a:r>
              <a:rPr lang="ru-RU" sz="4800" dirty="0">
                <a:solidFill>
                  <a:srgbClr val="FFBD4C"/>
                </a:solidFill>
                <a:latin typeface="Montserrat" panose="00000500000000000000" pitchFamily="2" charset="-52"/>
              </a:rPr>
              <a:t>Полный перебор </a:t>
            </a:r>
          </a:p>
          <a:p>
            <a:br>
              <a:rPr lang="ru-RU" sz="6600" b="1" dirty="0"/>
            </a:br>
            <a:endParaRPr lang="ru-RU" sz="6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45F9DF-6BE2-4908-B0AA-DB42973C8FB7}"/>
              </a:ext>
            </a:extLst>
          </p:cNvPr>
          <p:cNvSpPr txBox="1"/>
          <p:nvPr/>
        </p:nvSpPr>
        <p:spPr>
          <a:xfrm>
            <a:off x="295852" y="1312869"/>
            <a:ext cx="609552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Логика работы:</a:t>
            </a:r>
          </a:p>
          <a:p>
            <a:pPr indent="457200"/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 ◦ Если сумма равна 0 - возвращает 0 (успешный размен)</a:t>
            </a:r>
          </a:p>
          <a:p>
            <a:pPr indent="457200"/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 ◦ Если сумма отрицательная или индекс выходит за пределы - возвращает -1 (неудача)</a:t>
            </a:r>
          </a:p>
          <a:p>
            <a:pPr indent="457200"/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 ◦ Для каждого возможного количества монет текущего номинала вызывает себя рекурсивно для остатка суммы                                                                                                     </a:t>
            </a:r>
            <a:r>
              <a:rPr lang="ru-RU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Метод решения:</a:t>
            </a:r>
          </a:p>
          <a:p>
            <a:pPr indent="457200"/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 • Полный перебор (</a:t>
            </a: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brute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force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) - проверяет все возможные комбинации</a:t>
            </a:r>
          </a:p>
          <a:p>
            <a:pPr indent="457200"/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 • Рекурсивный подход - использует рекурсию для перебора</a:t>
            </a:r>
          </a:p>
          <a:p>
            <a:pPr indent="457200"/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 • </a:t>
            </a: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Backtracking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 - откатывается при неудачных комбинациях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288D1F-4762-4CA6-93F5-467B1559D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495" y="747525"/>
            <a:ext cx="5316718" cy="536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10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295852" y="202969"/>
            <a:ext cx="6001253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2">
              <a:buClr>
                <a:schemeClr val="bg1"/>
              </a:buClr>
            </a:pPr>
            <a:r>
              <a:rPr lang="ru-RU" sz="4800" dirty="0">
                <a:solidFill>
                  <a:srgbClr val="FFBD4C"/>
                </a:solidFill>
                <a:latin typeface="Montserrat" panose="00000500000000000000" pitchFamily="2" charset="-52"/>
              </a:rPr>
              <a:t>Полный перебор </a:t>
            </a:r>
          </a:p>
          <a:p>
            <a:br>
              <a:rPr lang="ru-RU" sz="6600" b="1" dirty="0"/>
            </a:br>
            <a:endParaRPr lang="ru-RU" sz="6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45F9DF-6BE2-4908-B0AA-DB42973C8FB7}"/>
              </a:ext>
            </a:extLst>
          </p:cNvPr>
          <p:cNvSpPr txBox="1"/>
          <p:nvPr/>
        </p:nvSpPr>
        <p:spPr>
          <a:xfrm>
            <a:off x="3048239" y="1689941"/>
            <a:ext cx="60955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Montserrat" panose="00000500000000000000" pitchFamily="2" charset="-52"/>
              </a:rPr>
              <a:t>Пример работы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F7AF1A8-D8E8-43D9-835A-78F35D4B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271" y="2846482"/>
            <a:ext cx="6865668" cy="207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419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437254" y="399552"/>
            <a:ext cx="8621905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2">
              <a:buClr>
                <a:schemeClr val="bg1"/>
              </a:buClr>
            </a:pPr>
            <a:r>
              <a:rPr lang="ru-RU" sz="4800" dirty="0">
                <a:solidFill>
                  <a:srgbClr val="FFBD4C"/>
                </a:solidFill>
                <a:latin typeface="Montserrat" panose="00000500000000000000" pitchFamily="2" charset="-52"/>
              </a:rPr>
              <a:t>ДП - минимум монет</a:t>
            </a:r>
          </a:p>
          <a:p>
            <a:br>
              <a:rPr lang="ru-RU" sz="4800" b="1" dirty="0"/>
            </a:br>
            <a:endParaRPr lang="ru-RU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517C9-B3A5-4B9A-A96B-A936EE3A4C67}"/>
              </a:ext>
            </a:extLst>
          </p:cNvPr>
          <p:cNvSpPr txBox="1"/>
          <p:nvPr/>
        </p:nvSpPr>
        <p:spPr>
          <a:xfrm>
            <a:off x="437254" y="1862166"/>
            <a:ext cx="11280264" cy="390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Классическое решение снизу-вверх (Табличный метод). Табличный метод - это подход динамического программирования, при котором мы:</a:t>
            </a:r>
          </a:p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Строим таблицу (массив) снизу вверх</a:t>
            </a:r>
          </a:p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Заполняем все ячейки по порядку от простейших подзадач к основной</a:t>
            </a:r>
          </a:p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Не используем рекурсию (или используем минимально)</a:t>
            </a:r>
          </a:p>
        </p:txBody>
      </p:sp>
    </p:spTree>
    <p:extLst>
      <p:ext uri="{BB962C8B-B14F-4D97-AF65-F5344CB8AC3E}">
        <p14:creationId xmlns:p14="http://schemas.microsoft.com/office/powerpoint/2010/main" val="221207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437254" y="333564"/>
            <a:ext cx="8621905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2">
              <a:buClr>
                <a:schemeClr val="bg1"/>
              </a:buClr>
            </a:pPr>
            <a:r>
              <a:rPr lang="ru-RU" sz="4800" dirty="0">
                <a:solidFill>
                  <a:srgbClr val="FFBD4C"/>
                </a:solidFill>
                <a:latin typeface="Montserrat" panose="00000500000000000000" pitchFamily="2" charset="-52"/>
              </a:rPr>
              <a:t>ДП - минимум монет</a:t>
            </a:r>
          </a:p>
          <a:p>
            <a:br>
              <a:rPr lang="ru-RU" sz="6600" b="1" dirty="0"/>
            </a:br>
            <a:endParaRPr lang="ru-RU" sz="6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517C9-B3A5-4B9A-A96B-A936EE3A4C67}"/>
              </a:ext>
            </a:extLst>
          </p:cNvPr>
          <p:cNvSpPr txBox="1"/>
          <p:nvPr/>
        </p:nvSpPr>
        <p:spPr>
          <a:xfrm>
            <a:off x="382508" y="1330841"/>
            <a:ext cx="475746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Создаем массив </a:t>
            </a:r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dp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[i], который будет хранить минимальное количество монет для суммы i.</a:t>
            </a:r>
          </a:p>
          <a:p>
            <a:pPr indent="457200"/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Инициализируем все значения как очень большое число(INT_MAX-1), используем INT_MAX-1, чтобы избежать переполнения при </a:t>
            </a:r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dp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[i-</a:t>
            </a:r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coin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]+1. </a:t>
            </a:r>
          </a:p>
          <a:p>
            <a:pPr indent="457200"/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Базовый </a:t>
            </a:r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случай:dp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[0]=0; — для суммы 0 нужно 0 монет.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40E7B1C-E709-4C78-A49A-734E6C645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229" y="1720482"/>
            <a:ext cx="6425719" cy="382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06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437254" y="333564"/>
            <a:ext cx="8621905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2">
              <a:buClr>
                <a:schemeClr val="bg1"/>
              </a:buClr>
            </a:pPr>
            <a:r>
              <a:rPr lang="ru-RU" sz="4800" dirty="0">
                <a:solidFill>
                  <a:srgbClr val="FFBD4C"/>
                </a:solidFill>
                <a:latin typeface="Montserrat" panose="00000500000000000000" pitchFamily="2" charset="-52"/>
              </a:rPr>
              <a:t>ДП - минимум монет</a:t>
            </a:r>
          </a:p>
          <a:p>
            <a:br>
              <a:rPr lang="ru-RU" sz="6600" b="1" dirty="0"/>
            </a:br>
            <a:endParaRPr lang="ru-RU" sz="6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1C2473-E308-4A7A-8C1D-AF6C986649F8}"/>
              </a:ext>
            </a:extLst>
          </p:cNvPr>
          <p:cNvSpPr txBox="1"/>
          <p:nvPr/>
        </p:nvSpPr>
        <p:spPr>
          <a:xfrm>
            <a:off x="3048239" y="1869051"/>
            <a:ext cx="60955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Montserrat" panose="00000500000000000000" pitchFamily="2" charset="-52"/>
              </a:rPr>
              <a:t>Пример работы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624133-0679-45A5-AFAC-5E732FD34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280" y="3039633"/>
            <a:ext cx="8111440" cy="222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15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427827" y="234277"/>
            <a:ext cx="10676948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2">
              <a:buClr>
                <a:schemeClr val="bg1"/>
              </a:buClr>
            </a:pPr>
            <a:r>
              <a:rPr lang="ru-RU" sz="4800" dirty="0">
                <a:solidFill>
                  <a:srgbClr val="FFBD4C"/>
                </a:solidFill>
                <a:latin typeface="Montserrat" panose="00000500000000000000" pitchFamily="2" charset="-52"/>
              </a:rPr>
              <a:t>Рекурсия с </a:t>
            </a:r>
            <a:r>
              <a:rPr lang="ru-RU" sz="4800" dirty="0" err="1">
                <a:solidFill>
                  <a:srgbClr val="FFBD4C"/>
                </a:solidFill>
                <a:latin typeface="Montserrat" panose="00000500000000000000" pitchFamily="2" charset="-52"/>
              </a:rPr>
              <a:t>мемоизацией</a:t>
            </a:r>
            <a:endParaRPr lang="ru-RU" sz="4800" dirty="0">
              <a:solidFill>
                <a:srgbClr val="FFBD4C"/>
              </a:solidFill>
              <a:latin typeface="Montserrat" panose="00000500000000000000" pitchFamily="2" charset="-52"/>
            </a:endParaRPr>
          </a:p>
          <a:p>
            <a:br>
              <a:rPr lang="ru-RU" sz="6600" b="1" dirty="0"/>
            </a:br>
            <a:endParaRPr lang="ru-RU" sz="6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5426F-0DA2-4377-9A9E-18B3F58D3226}"/>
              </a:ext>
            </a:extLst>
          </p:cNvPr>
          <p:cNvSpPr txBox="1"/>
          <p:nvPr/>
        </p:nvSpPr>
        <p:spPr>
          <a:xfrm>
            <a:off x="6664751" y="2222518"/>
            <a:ext cx="5296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1.База рекурсии: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sum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 == 0 → 0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sum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 &lt; 0 → INF (невозможно)</a:t>
            </a:r>
          </a:p>
          <a:p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2.Мемоизация: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если </a:t>
            </a: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memo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[</a:t>
            </a: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sum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] != -1 → вернуть </a:t>
            </a: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memo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[</a:t>
            </a: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sum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]</a:t>
            </a:r>
          </a:p>
          <a:p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3.Переход (поиск минимума):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для каждой монеты </a:t>
            </a: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coin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: </a:t>
            </a: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rec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(</a:t>
            </a: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sum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 - </a:t>
            </a: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coin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) + 1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выбираем минимум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записываем в </a:t>
            </a: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memo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[</a:t>
            </a: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sum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]</a:t>
            </a:r>
          </a:p>
          <a:p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4.Ответ: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ans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 = </a:t>
            </a: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rec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(</a:t>
            </a: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amount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)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если </a:t>
            </a: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ans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 &gt;= INF → -1, иначе → </a:t>
            </a: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ans</a:t>
            </a:r>
            <a:endParaRPr lang="ru-RU" sz="2000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E6B9C6-19EB-4AF4-A789-FBF19BE146C8}"/>
              </a:ext>
            </a:extLst>
          </p:cNvPr>
          <p:cNvSpPr txBox="1"/>
          <p:nvPr/>
        </p:nvSpPr>
        <p:spPr>
          <a:xfrm>
            <a:off x="216816" y="1161813"/>
            <a:ext cx="113592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Алгоритм подбирает монеты для размена суммы и выбирает вариант с минимальным количеством монет, запоминая уже найденные результаты в </a:t>
            </a:r>
            <a:r>
              <a:rPr lang="ru-RU" sz="2000" dirty="0" err="1">
                <a:solidFill>
                  <a:schemeClr val="bg1"/>
                </a:solidFill>
                <a:latin typeface="Montserrat" panose="00000500000000000000" pitchFamily="2" charset="-52"/>
              </a:rPr>
              <a:t>memo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, чтобы не выполнять одинаковые расчёты повторно.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0B52AB3-A1D2-46B6-9958-C7DC3DCE8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49" y="2514742"/>
            <a:ext cx="6325483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420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437254" y="333564"/>
            <a:ext cx="10676948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2">
              <a:buClr>
                <a:schemeClr val="bg1"/>
              </a:buClr>
            </a:pPr>
            <a:r>
              <a:rPr lang="ru-RU" sz="4800" dirty="0">
                <a:solidFill>
                  <a:srgbClr val="FFBD4C"/>
                </a:solidFill>
                <a:latin typeface="Montserrat" panose="00000500000000000000" pitchFamily="2" charset="-52"/>
              </a:rPr>
              <a:t>Рекурсия с </a:t>
            </a:r>
            <a:r>
              <a:rPr lang="ru-RU" sz="4800" dirty="0" err="1">
                <a:solidFill>
                  <a:srgbClr val="FFBD4C"/>
                </a:solidFill>
                <a:latin typeface="Montserrat" panose="00000500000000000000" pitchFamily="2" charset="-52"/>
              </a:rPr>
              <a:t>мемоизацией</a:t>
            </a:r>
            <a:endParaRPr lang="ru-RU" sz="4800" dirty="0">
              <a:solidFill>
                <a:srgbClr val="FFBD4C"/>
              </a:solidFill>
              <a:latin typeface="Montserrat" panose="00000500000000000000" pitchFamily="2" charset="-52"/>
            </a:endParaRPr>
          </a:p>
          <a:p>
            <a:br>
              <a:rPr lang="ru-RU" sz="4800" b="1" dirty="0"/>
            </a:br>
            <a:endParaRPr lang="ru-RU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59064-2122-4200-9E73-14C941D1F3A2}"/>
              </a:ext>
            </a:extLst>
          </p:cNvPr>
          <p:cNvSpPr txBox="1"/>
          <p:nvPr/>
        </p:nvSpPr>
        <p:spPr>
          <a:xfrm>
            <a:off x="717156" y="1720840"/>
            <a:ext cx="431675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• Проверка простых случаев: </a:t>
            </a:r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amount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 &lt; 0, </a:t>
            </a:r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amount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 == 0, </a:t>
            </a:r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coins.empty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()</a:t>
            </a:r>
          </a:p>
          <a:p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• INF = </a:t>
            </a:r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amount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 + 1 — значение “невозможно”</a:t>
            </a:r>
          </a:p>
          <a:p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• </a:t>
            </a:r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memo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 размером </a:t>
            </a:r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amount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 + 1, -1 = “не считали”</a:t>
            </a:r>
          </a:p>
          <a:p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• </a:t>
            </a:r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ans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 = </a:t>
            </a:r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rec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(</a:t>
            </a:r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amount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) и возврат: </a:t>
            </a:r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ans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 &gt;= INF ? -1 : </a:t>
            </a:r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ans</a:t>
            </a:r>
            <a:endParaRPr lang="ru-RU" sz="2400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7FEA32F-E4ED-4E94-B1F5-47F0ECB7B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439" y="2179657"/>
            <a:ext cx="6160405" cy="327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13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437254" y="333564"/>
            <a:ext cx="10676948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2">
              <a:buClr>
                <a:schemeClr val="bg1"/>
              </a:buClr>
            </a:pPr>
            <a:r>
              <a:rPr lang="ru-RU" sz="4800" dirty="0">
                <a:solidFill>
                  <a:srgbClr val="FFBD4C"/>
                </a:solidFill>
                <a:latin typeface="Montserrat" panose="00000500000000000000" pitchFamily="2" charset="-52"/>
              </a:rPr>
              <a:t>Рекурсия с </a:t>
            </a:r>
            <a:r>
              <a:rPr lang="ru-RU" sz="4800" dirty="0" err="1">
                <a:solidFill>
                  <a:srgbClr val="FFBD4C"/>
                </a:solidFill>
                <a:latin typeface="Montserrat" panose="00000500000000000000" pitchFamily="2" charset="-52"/>
              </a:rPr>
              <a:t>мемоизацией</a:t>
            </a:r>
            <a:endParaRPr lang="ru-RU" sz="4800" dirty="0">
              <a:solidFill>
                <a:srgbClr val="FFBD4C"/>
              </a:solidFill>
              <a:latin typeface="Montserrat" panose="00000500000000000000" pitchFamily="2" charset="-52"/>
            </a:endParaRPr>
          </a:p>
          <a:p>
            <a:br>
              <a:rPr lang="ru-RU" sz="4800" b="1" dirty="0"/>
            </a:br>
            <a:endParaRPr lang="ru-RU" sz="4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AA9E4F-795D-4ED4-83C5-42DC45D47CF0}"/>
              </a:ext>
            </a:extLst>
          </p:cNvPr>
          <p:cNvSpPr txBox="1"/>
          <p:nvPr/>
        </p:nvSpPr>
        <p:spPr>
          <a:xfrm>
            <a:off x="3048239" y="3075057"/>
            <a:ext cx="60955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Montserrat" panose="00000500000000000000" pitchFamily="2" charset="-52"/>
              </a:rPr>
              <a:t>Пример работы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17C17B-66C5-4993-9298-A7DD42880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54" y="1624830"/>
            <a:ext cx="4926598" cy="104930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EC74790-5F4C-4491-8646-BCC70CC2F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679" y="4293594"/>
            <a:ext cx="10024642" cy="113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35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333559" y="446686"/>
            <a:ext cx="8621905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2">
              <a:buClr>
                <a:schemeClr val="bg1"/>
              </a:buClr>
            </a:pPr>
            <a:r>
              <a:rPr lang="ru-RU" sz="4800" dirty="0">
                <a:solidFill>
                  <a:srgbClr val="FFBD4C"/>
                </a:solidFill>
                <a:latin typeface="Montserrat" panose="00000500000000000000" pitchFamily="2" charset="-52"/>
              </a:rPr>
              <a:t>Поиск в ширину </a:t>
            </a:r>
          </a:p>
          <a:p>
            <a:br>
              <a:rPr lang="ru-RU" sz="4800" b="1" dirty="0"/>
            </a:br>
            <a:endParaRPr lang="ru-RU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0CEAC-9AA3-48AD-A91C-E35CD7F27333}"/>
              </a:ext>
            </a:extLst>
          </p:cNvPr>
          <p:cNvSpPr txBox="1"/>
          <p:nvPr/>
        </p:nvSpPr>
        <p:spPr>
          <a:xfrm>
            <a:off x="333559" y="1742271"/>
            <a:ext cx="1133682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ru-RU" sz="2800" dirty="0">
                <a:solidFill>
                  <a:schemeClr val="bg1"/>
                </a:solidFill>
                <a:latin typeface="Montserrat" panose="00000500000000000000" pitchFamily="2" charset="-52"/>
              </a:rPr>
              <a:t>Метод поиска в ширину, или BFS — это алгоритм обхода графа, который исследует все вершины на текущем уровне перед переходом к следующему.</a:t>
            </a:r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Montserrat" panose="00000500000000000000" pitchFamily="2" charset="-52"/>
              </a:rPr>
              <a:t>Каждая вершина графа — это промежуточная сумма от 0 до </a:t>
            </a:r>
            <a:r>
              <a:rPr lang="ru-RU" sz="2800" dirty="0" err="1">
                <a:solidFill>
                  <a:schemeClr val="bg1"/>
                </a:solidFill>
                <a:latin typeface="Montserrat" panose="00000500000000000000" pitchFamily="2" charset="-52"/>
              </a:rPr>
              <a:t>amount</a:t>
            </a:r>
            <a:r>
              <a:rPr lang="ru-RU" sz="2800" dirty="0">
                <a:solidFill>
                  <a:schemeClr val="bg1"/>
                </a:solidFill>
                <a:latin typeface="Montserrat" panose="00000500000000000000" pitchFamily="2" charset="-52"/>
              </a:rPr>
              <a:t>.</a:t>
            </a:r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Montserrat" panose="00000500000000000000" pitchFamily="2" charset="-52"/>
              </a:rPr>
              <a:t>Из вершины x мы можем перейти в вершину *x + </a:t>
            </a:r>
            <a:r>
              <a:rPr lang="ru-RU" sz="2800" dirty="0" err="1">
                <a:solidFill>
                  <a:schemeClr val="bg1"/>
                </a:solidFill>
                <a:latin typeface="Montserrat" panose="00000500000000000000" pitchFamily="2" charset="-52"/>
              </a:rPr>
              <a:t>coin</a:t>
            </a:r>
            <a:r>
              <a:rPr lang="ru-RU" sz="2800" dirty="0">
                <a:solidFill>
                  <a:schemeClr val="bg1"/>
                </a:solidFill>
                <a:latin typeface="Montserrat" panose="00000500000000000000" pitchFamily="2" charset="-52"/>
              </a:rPr>
              <a:t>[i]*, добавив одну монету.</a:t>
            </a:r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Montserrat" panose="00000500000000000000" pitchFamily="2" charset="-52"/>
              </a:rPr>
              <a:t>Цель — достичь вершины </a:t>
            </a:r>
            <a:r>
              <a:rPr lang="ru-RU" sz="2800" dirty="0" err="1">
                <a:solidFill>
                  <a:schemeClr val="bg1"/>
                </a:solidFill>
                <a:latin typeface="Montserrat" panose="00000500000000000000" pitchFamily="2" charset="-52"/>
              </a:rPr>
              <a:t>amount</a:t>
            </a:r>
            <a:r>
              <a:rPr lang="ru-RU" sz="2800" dirty="0">
                <a:solidFill>
                  <a:schemeClr val="bg1"/>
                </a:solidFill>
                <a:latin typeface="Montserrat" panose="00000500000000000000" pitchFamily="2" charset="-52"/>
              </a:rPr>
              <a:t>, сделав как можно меньше шагов.</a:t>
            </a:r>
          </a:p>
        </p:txBody>
      </p:sp>
    </p:spTree>
    <p:extLst>
      <p:ext uri="{BB962C8B-B14F-4D97-AF65-F5344CB8AC3E}">
        <p14:creationId xmlns:p14="http://schemas.microsoft.com/office/powerpoint/2010/main" val="1972660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333559" y="446686"/>
            <a:ext cx="8621905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2">
              <a:buClr>
                <a:schemeClr val="bg1"/>
              </a:buClr>
            </a:pPr>
            <a:r>
              <a:rPr lang="ru-RU" sz="4800" dirty="0">
                <a:solidFill>
                  <a:srgbClr val="FFBD4C"/>
                </a:solidFill>
                <a:latin typeface="Montserrat" panose="00000500000000000000" pitchFamily="2" charset="-52"/>
              </a:rPr>
              <a:t>Поиск в ширину </a:t>
            </a:r>
          </a:p>
          <a:p>
            <a:br>
              <a:rPr lang="ru-RU" sz="4800" b="1" dirty="0"/>
            </a:br>
            <a:endParaRPr lang="ru-RU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0CEAC-9AA3-48AD-A91C-E35CD7F27333}"/>
              </a:ext>
            </a:extLst>
          </p:cNvPr>
          <p:cNvSpPr txBox="1"/>
          <p:nvPr/>
        </p:nvSpPr>
        <p:spPr>
          <a:xfrm>
            <a:off x="333559" y="1739477"/>
            <a:ext cx="614265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Именно это и делает алгоритм: он начинает с нуля, затем последовательно рассматривает все суммы, достижимые за 1 монету, затем за 2 монеты и так далее.</a:t>
            </a:r>
          </a:p>
          <a:p>
            <a:pPr indent="457200"/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 Как только мы впервые достигаем суммы </a:t>
            </a:r>
            <a:r>
              <a:rPr lang="ru-RU" sz="2400" dirty="0" err="1">
                <a:solidFill>
                  <a:schemeClr val="bg1"/>
                </a:solidFill>
                <a:latin typeface="Montserrat" panose="00000500000000000000" pitchFamily="2" charset="-52"/>
              </a:rPr>
              <a:t>amount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, мы точно знаем, что это произошло за минимальное число шагов — потому что BFS обходит уровни графа по возрастанию глубины.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66D102D-E7DD-46DA-A049-9B2D4F4EC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705" y="963539"/>
            <a:ext cx="4839375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335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333559" y="446686"/>
            <a:ext cx="8621905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2">
              <a:buClr>
                <a:schemeClr val="bg1"/>
              </a:buClr>
            </a:pPr>
            <a:r>
              <a:rPr lang="ru-RU" sz="4800" dirty="0">
                <a:solidFill>
                  <a:srgbClr val="FFBD4C"/>
                </a:solidFill>
                <a:latin typeface="Montserrat" panose="00000500000000000000" pitchFamily="2" charset="-52"/>
              </a:rPr>
              <a:t>Поиск в ширину </a:t>
            </a:r>
          </a:p>
          <a:p>
            <a:br>
              <a:rPr lang="ru-RU" sz="4800" b="1" dirty="0"/>
            </a:br>
            <a:endParaRPr lang="ru-RU" sz="4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54E4E1-4448-4724-A086-AB270724608D}"/>
              </a:ext>
            </a:extLst>
          </p:cNvPr>
          <p:cNvSpPr txBox="1"/>
          <p:nvPr/>
        </p:nvSpPr>
        <p:spPr>
          <a:xfrm>
            <a:off x="3048239" y="2320912"/>
            <a:ext cx="60955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Montserrat" panose="00000500000000000000" pitchFamily="2" charset="-52"/>
              </a:rPr>
              <a:t>Пример работы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40C8B4-E13F-4491-ADDB-3CE92DDE25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953"/>
          <a:stretch/>
        </p:blipFill>
        <p:spPr>
          <a:xfrm>
            <a:off x="469402" y="3547602"/>
            <a:ext cx="11253196" cy="140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39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333559" y="49701"/>
            <a:ext cx="8621905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2">
              <a:buClr>
                <a:schemeClr val="bg1"/>
              </a:buClr>
            </a:pPr>
            <a:r>
              <a:rPr lang="ru-RU" sz="4800" dirty="0">
                <a:solidFill>
                  <a:srgbClr val="FFBD4C"/>
                </a:solidFill>
                <a:latin typeface="Montserrat" panose="00000500000000000000" pitchFamily="2" charset="-52"/>
              </a:rPr>
              <a:t>Тестирование</a:t>
            </a:r>
          </a:p>
          <a:p>
            <a:br>
              <a:rPr lang="ru-RU" sz="4800" b="1" dirty="0"/>
            </a:br>
            <a:endParaRPr lang="ru-RU" sz="4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FB0BD4-C0A4-4AF7-8823-EA6DD8193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97" y="1204602"/>
            <a:ext cx="11507806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941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173303" y="122958"/>
            <a:ext cx="8621905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2">
              <a:buClr>
                <a:schemeClr val="bg1"/>
              </a:buClr>
            </a:pPr>
            <a:r>
              <a:rPr lang="ru-RU" sz="4800" dirty="0">
                <a:solidFill>
                  <a:srgbClr val="FFBD4C"/>
                </a:solidFill>
                <a:latin typeface="Montserrat" panose="00000500000000000000" pitchFamily="2" charset="-52"/>
              </a:rPr>
              <a:t>Тестирование</a:t>
            </a:r>
          </a:p>
          <a:p>
            <a:br>
              <a:rPr lang="ru-RU" sz="4800" b="1" dirty="0"/>
            </a:br>
            <a:endParaRPr lang="ru-RU" sz="4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C8AD5B2-F529-4501-99E2-D31D216B1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769" y="1166098"/>
            <a:ext cx="7892461" cy="498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385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276998" y="264360"/>
            <a:ext cx="8621905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2">
              <a:buClr>
                <a:schemeClr val="bg1"/>
              </a:buClr>
            </a:pPr>
            <a:r>
              <a:rPr lang="ru-RU" sz="4800" dirty="0">
                <a:solidFill>
                  <a:srgbClr val="FFBD4C"/>
                </a:solidFill>
                <a:latin typeface="Montserrat" panose="00000500000000000000" pitchFamily="2" charset="-52"/>
              </a:rPr>
              <a:t>Итоги</a:t>
            </a:r>
          </a:p>
          <a:p>
            <a:br>
              <a:rPr lang="ru-RU" sz="4800" b="1" dirty="0"/>
            </a:br>
            <a:endParaRPr lang="ru-RU" sz="4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2D7D31-2039-4DF0-8183-6CE3240668CA}"/>
              </a:ext>
            </a:extLst>
          </p:cNvPr>
          <p:cNvSpPr txBox="1"/>
          <p:nvPr/>
        </p:nvSpPr>
        <p:spPr>
          <a:xfrm>
            <a:off x="276998" y="1368392"/>
            <a:ext cx="1074800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ru-RU" sz="2400" b="1" dirty="0">
                <a:solidFill>
                  <a:schemeClr val="bg1"/>
                </a:solidFill>
                <a:effectLst/>
              </a:rPr>
              <a:t>Жадный алгоритм</a:t>
            </a:r>
            <a:r>
              <a:rPr lang="ru-RU" sz="2400" dirty="0">
                <a:solidFill>
                  <a:schemeClr val="bg1"/>
                </a:solidFill>
                <a:effectLst/>
              </a:rPr>
              <a:t> — работает быстро, но может давать неправильный ответ на некоторых системах монет.</a:t>
            </a:r>
          </a:p>
          <a:p>
            <a:pPr indent="457200"/>
            <a:r>
              <a:rPr lang="ru-RU" sz="2400" b="1" dirty="0">
                <a:solidFill>
                  <a:schemeClr val="bg1"/>
                </a:solidFill>
                <a:effectLst/>
              </a:rPr>
              <a:t>Динамическое программирование</a:t>
            </a:r>
            <a:r>
              <a:rPr lang="ru-RU" sz="2400" dirty="0">
                <a:solidFill>
                  <a:schemeClr val="bg1"/>
                </a:solidFill>
                <a:effectLst/>
              </a:rPr>
              <a:t> — всегда находит правильный ответ, но требует много памяти и времени на больших суммах.</a:t>
            </a:r>
          </a:p>
          <a:p>
            <a:pPr indent="457200"/>
            <a:r>
              <a:rPr lang="ru-RU" sz="2400" b="1" dirty="0">
                <a:solidFill>
                  <a:schemeClr val="bg1"/>
                </a:solidFill>
                <a:effectLst/>
              </a:rPr>
              <a:t>Рекурсивный алгоритм</a:t>
            </a:r>
            <a:r>
              <a:rPr lang="ru-RU" sz="2400" dirty="0">
                <a:solidFill>
                  <a:schemeClr val="bg1"/>
                </a:solidFill>
                <a:effectLst/>
              </a:rPr>
              <a:t> — понятный в написании, но неэффективный на практике, так как тратит память на хранение промежуточных результатов.</a:t>
            </a:r>
          </a:p>
          <a:p>
            <a:pPr indent="457200"/>
            <a:r>
              <a:rPr lang="ru-RU" sz="2400" b="1" dirty="0">
                <a:solidFill>
                  <a:schemeClr val="bg1"/>
                </a:solidFill>
                <a:effectLst/>
              </a:rPr>
              <a:t>Поиск в ширину (BFS)</a:t>
            </a:r>
            <a:r>
              <a:rPr lang="ru-RU" sz="2400" dirty="0">
                <a:solidFill>
                  <a:schemeClr val="bg1"/>
                </a:solidFill>
                <a:effectLst/>
              </a:rPr>
              <a:t> — находит кратчайшее решение, но потребляет слишком много памяти для хранения состояний.</a:t>
            </a:r>
          </a:p>
          <a:p>
            <a:pPr indent="457200"/>
            <a:r>
              <a:rPr lang="ru-RU" sz="2400" b="1" dirty="0">
                <a:solidFill>
                  <a:schemeClr val="bg1"/>
                </a:solidFill>
                <a:effectLst/>
              </a:rPr>
              <a:t>Полный перебор</a:t>
            </a:r>
            <a:r>
              <a:rPr lang="ru-RU" sz="2400" dirty="0">
                <a:solidFill>
                  <a:schemeClr val="bg1"/>
                </a:solidFill>
                <a:effectLst/>
              </a:rPr>
              <a:t> — теоретически решает задачу, но настолько медленный, что бесполезен для любых реальных данных.</a:t>
            </a:r>
          </a:p>
          <a:p>
            <a:pPr indent="457200"/>
            <a:r>
              <a:rPr lang="ru-RU" sz="2400" b="1" u="sng">
                <a:solidFill>
                  <a:schemeClr val="bg1"/>
                </a:solidFill>
                <a:effectLst/>
              </a:rPr>
              <a:t>Вывод: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>
                <a:solidFill>
                  <a:schemeClr val="bg1"/>
                </a:solidFill>
                <a:effectLst/>
              </a:rPr>
              <a:t>в </a:t>
            </a:r>
            <a:r>
              <a:rPr lang="ru-RU" sz="2400" dirty="0">
                <a:solidFill>
                  <a:schemeClr val="bg1"/>
                </a:solidFill>
                <a:effectLst/>
              </a:rPr>
              <a:t>реальных задачах используют либо жадный алгоритм (если система монет позволяет), либо динамическое программирование. </a:t>
            </a:r>
          </a:p>
        </p:txBody>
      </p:sp>
    </p:spTree>
    <p:extLst>
      <p:ext uri="{BB962C8B-B14F-4D97-AF65-F5344CB8AC3E}">
        <p14:creationId xmlns:p14="http://schemas.microsoft.com/office/powerpoint/2010/main" val="3384661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6A5C63-71DB-4F01-9911-A51FDD63E703}"/>
              </a:ext>
            </a:extLst>
          </p:cNvPr>
          <p:cNvSpPr txBox="1">
            <a:spLocks/>
          </p:cNvSpPr>
          <p:nvPr/>
        </p:nvSpPr>
        <p:spPr>
          <a:xfrm>
            <a:off x="1785047" y="1037357"/>
            <a:ext cx="8621905" cy="88249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2" algn="ctr">
              <a:buClr>
                <a:schemeClr val="bg1"/>
              </a:buClr>
            </a:pPr>
            <a:r>
              <a:rPr lang="ru-RU" sz="5400" b="1" dirty="0">
                <a:solidFill>
                  <a:srgbClr val="FFBD4C"/>
                </a:solidFill>
                <a:latin typeface="Montserrat" panose="00000500000000000000" pitchFamily="2" charset="-52"/>
              </a:rPr>
              <a:t>Спасибо за внимание!</a:t>
            </a:r>
          </a:p>
          <a:p>
            <a:pPr algn="ctr"/>
            <a:br>
              <a:rPr lang="ru-RU" sz="5400" b="1" dirty="0"/>
            </a:br>
            <a:endParaRPr lang="ru-RU" sz="5400" b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2C8EDC4-4253-4D2E-8684-DEB7E83D6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854" y="2822274"/>
            <a:ext cx="2874289" cy="28742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5E9FB7-A5ED-4A06-BA31-9DBE3E952C5B}"/>
              </a:ext>
            </a:extLst>
          </p:cNvPr>
          <p:cNvSpPr txBox="1"/>
          <p:nvPr/>
        </p:nvSpPr>
        <p:spPr>
          <a:xfrm>
            <a:off x="4862460" y="5820643"/>
            <a:ext cx="2467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chemeClr val="bg1"/>
                </a:solidFill>
                <a:latin typeface="Montserrat" panose="00000500000000000000" pitchFamily="2" charset="-52"/>
              </a:rPr>
              <a:t>Проект на </a:t>
            </a:r>
            <a:r>
              <a:rPr lang="en-US" sz="1800" b="1" dirty="0">
                <a:solidFill>
                  <a:schemeClr val="bg1"/>
                </a:solidFill>
                <a:latin typeface="Montserrat" panose="00000500000000000000" pitchFamily="2" charset="-52"/>
              </a:rPr>
              <a:t>GitHub</a:t>
            </a:r>
            <a:endParaRPr lang="ru-RU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856372713"/>
      </p:ext>
    </p:extLst>
  </p:cSld>
  <p:clrMapOvr>
    <a:masterClrMapping/>
  </p:clrMapOvr>
</p:sld>
</file>

<file path=ppt/theme/theme1.xml><?xml version="1.0" encoding="utf-8"?>
<a:theme xmlns:a="http://schemas.openxmlformats.org/drawingml/2006/main" name="Trade Marketing">
  <a:themeElements>
    <a:clrScheme name="Стандартная">
      <a:dk1>
        <a:srgbClr val="000000"/>
      </a:dk1>
      <a:lt1>
        <a:srgbClr val="FFFFFF"/>
      </a:lt1>
      <a:dk2>
        <a:srgbClr val="888888"/>
      </a:dk2>
      <a:lt2>
        <a:srgbClr val="FFBD4C"/>
      </a:lt2>
      <a:accent1>
        <a:srgbClr val="4E77A7"/>
      </a:accent1>
      <a:accent2>
        <a:srgbClr val="0C0F27"/>
      </a:accent2>
      <a:accent3>
        <a:srgbClr val="FFFFFF"/>
      </a:accent3>
      <a:accent4>
        <a:srgbClr val="888888"/>
      </a:accent4>
      <a:accent5>
        <a:srgbClr val="FFBD4C"/>
      </a:accent5>
      <a:accent6>
        <a:srgbClr val="4E77A7"/>
      </a:accent6>
      <a:hlink>
        <a:srgbClr val="0C0F27"/>
      </a:hlink>
      <a:folHlink>
        <a:srgbClr val="800080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retail-marketing</Template>
  <TotalTime>603</TotalTime>
  <Words>975</Words>
  <Application>Microsoft Office PowerPoint</Application>
  <PresentationFormat>Широкоэкранный</PresentationFormat>
  <Paragraphs>115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Montserrat</vt:lpstr>
      <vt:lpstr>Wingdings</vt:lpstr>
      <vt:lpstr>Trade Marketing</vt:lpstr>
      <vt:lpstr>Задача о размене монет</vt:lpstr>
      <vt:lpstr>Постановка задачи </vt:lpstr>
      <vt:lpstr>Актуальность  </vt:lpstr>
      <vt:lpstr>Формулировка задачи и алгоритмы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Алёна Пуганова</dc:creator>
  <cp:lastModifiedBy>Алёна Пуганова</cp:lastModifiedBy>
  <cp:revision>81</cp:revision>
  <dcterms:created xsi:type="dcterms:W3CDTF">2025-12-17T12:16:44Z</dcterms:created>
  <dcterms:modified xsi:type="dcterms:W3CDTF">2025-12-20T14:17:08Z</dcterms:modified>
</cp:coreProperties>
</file>